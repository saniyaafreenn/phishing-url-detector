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Inter"/>
      <ns0:bold ns1:id="rIdFont16"/>
      <ns0:regular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1bd81a2d-3c95-4a7d-87c6-d34d5f2a3f21.fntdata" /><ns0:Relationship Id="rIdFont17" Type="http://schemas.openxmlformats.org/officeDocument/2006/relationships/font" Target="fonts/f653ec12-cc65-4ccf-877e-7c75a6ecfaef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666208"/>
            <a:ext cx="5715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153691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nter"/>
              </a:rPr>
              <a:t>HACKATHON PROJECT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68016"/>
            <a:ext cx="8601075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AI-Powered Phishing URL Detection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847058"/>
            <a:ext cx="62865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Inter"/>
              </a:rPr>
              <a:t>Real-time threat intelligence combining machine learning pattern recognition with full-stack web architecture.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7512"/>
            <a:ext cx="3505200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57512"/>
            <a:ext cx="3505200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57512"/>
            <a:ext cx="3505200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00412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30041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300412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966912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CONTEXT &amp;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195512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The Growing Threat of Deceptive URLs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95712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Credential Harvesting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119562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Attackers use spoofed links to siphon sensitive user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95712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Zero-Day Vulnerability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119562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Static blacklists fail against brand-new malicious domains.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95712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Automated Defense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119562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Requires instant programmatic classification without human delay.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33725"/>
            <a:ext cx="2600325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33725"/>
            <a:ext cx="2600325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33725"/>
            <a:ext cx="2600325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33725"/>
            <a:ext cx="2600325" cy="1581150"/>
          </a:xfrm>
          <a:prstGeom prst="roundRect">
            <a:avLst>
              <a:gd name="adj" fmla="val 722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85825" y="3409950"/>
            <a:ext cx="523875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76650" y="3409950"/>
            <a:ext cx="552450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67475" y="3409950"/>
            <a:ext cx="552450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258300" y="3409950"/>
            <a:ext cx="552450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2143125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2371725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End-to-End Prediction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3448050"/>
            <a:ext cx="428625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Step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762375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Frontend 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038600"/>
            <a:ext cx="21431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User submits target URL via clean web interface.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1900" y="3448050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6650" y="3762375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Flask API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6650" y="4038600"/>
            <a:ext cx="21431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Receives POST request and triggers feature extraction.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2725" y="3448050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7475" y="3762375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ML Model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7475" y="4038600"/>
            <a:ext cx="21431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Evaluates structural vector using Random Forest.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53550" y="3448050"/>
            <a:ext cx="4572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369A1"/>
                </a:solidFill>
                <a:latin typeface="Inter"/>
              </a:rP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300" y="3762375"/>
            <a:ext cx="268783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Instant Verdict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300" y="4038600"/>
            <a:ext cx="21431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Returns JSON confidence score and safety badge.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7512"/>
            <a:ext cx="3505200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57512"/>
            <a:ext cx="3505200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57512"/>
            <a:ext cx="3505200" cy="1933575"/>
          </a:xfrm>
          <a:prstGeom prst="roundRect">
            <a:avLst>
              <a:gd name="adj" fmla="val 59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00412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300412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300412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1966912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CORE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2195512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Why Random Forest Classifier?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95712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Ensemble Voting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119562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Combines numerous decision trees to prevent individual overfitting.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95712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Robust 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119562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Delivers exceptionally high predictive precision on tabular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95712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Joblib Serialization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119562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Saves trained model weights for millisecond server loading times.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09937"/>
            <a:ext cx="3505200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309937"/>
            <a:ext cx="3505200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309937"/>
            <a:ext cx="3505200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319337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547937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How URLs are Evaluated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86162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URL Length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62387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Detects unusually long addresses hiding malicious paths.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86162"/>
            <a:ext cx="387548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IP Address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62387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Flags raw numeric IPs replacing legitimate domain names.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86162"/>
            <a:ext cx="38385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Special Symbols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62387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Counts excessive hyphens, at-symbols (@), and query strings.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19450"/>
            <a:ext cx="35052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19450"/>
            <a:ext cx="35052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19450"/>
            <a:ext cx="35052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22885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TECHNOLOGY CHOICES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5745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Why These Specific Tools?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33775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Scikit-Learn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857625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Provides optimized, reliable machine learning algorithms and tools.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533775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Flask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857625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Lightweight python micro-framework for rapid REST endpoint creation.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533775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Joblib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857625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Optimized specifically for serializing large NumPy array models.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19450"/>
            <a:ext cx="5372100" cy="1409700"/>
          </a:xfrm>
          <a:prstGeom prst="roundRect">
            <a:avLst>
              <a:gd name="adj" fmla="val 81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333750"/>
            <a:ext cx="5372100" cy="1181100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222885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45745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Normalized Confusion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33775"/>
            <a:ext cx="622577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Handling Imbalance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857625"/>
            <a:ext cx="48387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Converts raw counts to percentages to evaluate class accuracy fairly.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648075"/>
            <a:ext cx="5667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Precision Insights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3971925"/>
            <a:ext cx="56673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Reveals exact true positive and false negative rates clearly.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09937"/>
            <a:ext cx="3530649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3309937"/>
            <a:ext cx="3530649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3309937"/>
            <a:ext cx="3530649" cy="1228725"/>
          </a:xfrm>
          <a:prstGeom prst="roundRect">
            <a:avLst>
              <a:gd name="adj" fmla="val 930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2319337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FUTURE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547937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Expanding System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86162"/>
            <a:ext cx="390888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Browser Extension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62387"/>
            <a:ext cx="30734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Automated real-time inspection during daily web browsing.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6974" y="3586162"/>
            <a:ext cx="390888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Content Scraping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6974" y="3862387"/>
            <a:ext cx="30734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Analyzing page HTML and logos for deeper spoof detection.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8124" y="3586162"/>
            <a:ext cx="3863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Threat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8124" y="3862387"/>
            <a:ext cx="30734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Cross-referencing global security feeds for enhanced safety.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67400" y="4038600"/>
            <a:ext cx="457200" cy="28575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14539" y="2790825"/>
            <a:ext cx="3362920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9656" y="3505200"/>
            <a:ext cx="24526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Inter"/>
              </a:rP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